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5" r:id="rId4"/>
    <p:sldId id="266" r:id="rId5"/>
    <p:sldId id="258" r:id="rId6"/>
    <p:sldId id="273" r:id="rId7"/>
    <p:sldId id="272" r:id="rId8"/>
    <p:sldId id="269" r:id="rId9"/>
    <p:sldId id="274" r:id="rId10"/>
    <p:sldId id="270" r:id="rId11"/>
    <p:sldId id="275" r:id="rId12"/>
    <p:sldId id="271" r:id="rId13"/>
    <p:sldId id="260" r:id="rId14"/>
    <p:sldId id="262" r:id="rId15"/>
    <p:sldId id="264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17"/>
    <p:restoredTop sz="95725"/>
  </p:normalViewPr>
  <p:slideViewPr>
    <p:cSldViewPr snapToGrid="0" snapToObjects="1">
      <p:cViewPr varScale="1">
        <p:scale>
          <a:sx n="113" d="100"/>
          <a:sy n="113" d="100"/>
        </p:scale>
        <p:origin x="184" y="6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149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Attribution Analysis by treatment (direct Effect and Relative </a:t>
            </a:r>
            <a:r>
              <a:rPr lang="en-US" dirty="0" err="1"/>
              <a:t>Importantce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72219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Mediation analysis for </a:t>
            </a:r>
          </a:p>
        </p:txBody>
      </p:sp>
    </p:spTree>
    <p:extLst>
      <p:ext uri="{BB962C8B-B14F-4D97-AF65-F5344CB8AC3E}">
        <p14:creationId xmlns:p14="http://schemas.microsoft.com/office/powerpoint/2010/main" val="205106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D9488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498080" y="3200400"/>
            <a:ext cx="2743200" cy="2743200"/>
          </a:xfrm>
          <a:prstGeom prst="ellipse">
            <a:avLst/>
          </a:prstGeom>
          <a:solidFill>
            <a:srgbClr val="14B8A6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73152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 Inference</a:t>
            </a:r>
            <a:endParaRPr lang="en-US" sz="4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Case Study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5742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Rating Attribution Analysis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22860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Ella Ndala  |  Portfolio Project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Business Question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280160"/>
          </a:xfrm>
          <a:prstGeom prst="rect">
            <a:avLst/>
          </a:prstGeom>
          <a:solidFill>
            <a:srgbClr val="0F172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factors causally drive restaurant ratings,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through which pathways do they operate?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9260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Correlation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true causal drivers — not just associations — to enable actionable business decisions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38328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29260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at Scale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6616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Decomposing effects through mediation pathways using Shapley values and DoWhy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1792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21792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29260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Effects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0080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how causal impacts vary across customer segments for targeted strategy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Phase 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1280160"/>
          </a:xfrm>
          <a:prstGeom prst="rect">
            <a:avLst/>
          </a:prstGeom>
          <a:solidFill>
            <a:srgbClr val="0F172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analytical phases — from raw data to causal insights and actionable recommendations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Data Pipeline &amp; Feature Engineering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9 relational CSVs, merge patrons and restaurants, clean features, engineer distance and match scores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8328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38328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9260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6616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2-3: Causal Graph &amp; Attribution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6616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31-node DAG, identify 7 direct treatments; dual attribution via Shapley values and DoWhy backdoor identification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17920" y="27432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217920" y="2743200"/>
            <a:ext cx="54864" cy="20116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9260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00800" y="33832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Mediation Analysis &amp; HTE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00800" y="37947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treatment effects through food and service mediators; analyse 17 identified HTE pathways for hijos via IPW and propensity scoring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1-2: Data Analysis &amp; Preprocessing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EDA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9 relational CSV files from 00_Raw_Data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patrons + restaurants on userID and placeID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distributions with ydata-profiling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EDA report: Reports/EDA_Reports/eda_report.html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1887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846320" y="118872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Preprocessing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? sentinel values with NaN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business hours: Morning/Afternoon/Evening/24H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 missing values (most-frequent strategy)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final_data.pkl — 31,559 rows × 52 features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Patron-restaurant distance (Haversine km)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clusters — KMeans k=5 on lat/long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groups — 18-25, 26-35, 36-50, 50+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Cuisine match score — Jaccard similarity (0-1)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310896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846320" y="310896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0" y="3611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 via data_pipeline.py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Phases: Ingest → Merge → Clean → Engineer → Impute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source tables joined in sequence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Modular, rerunnable, extensible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Pipeline &amp; Feature Engineering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840480" cy="356616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2588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2801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Relational Data Sources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77240" y="1828800"/>
            <a:ext cx="3383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userprofile — Demographics &amp; preferences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usercuisine — Cuisine preferences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userpayment — Payment methods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rating_final — User ratings (target)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geoplaces2 — Restaurant profiles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chefmozcuisine — Restaurant cuisines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chefmozparking — Parking info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chefmozaccepts — Accepted payments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chefmozhours4 — Operating hours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4023360" cy="356616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32588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9496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4983480" y="1874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Patron-Restaurant Distance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983480" y="21031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Geodesic (km) via Haversine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4983480" y="2423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Clusters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983480" y="26517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 (k=5) on lat/long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983480" y="2971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Groups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983480" y="32004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bins from birth year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983480" y="3520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Cuisine Match Score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983480" y="3749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Jaccard similarity (0-1)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983480" y="4069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Hours Category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983480" y="4297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Morning/Afternoon/Evening/24H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2: Correlation Analysis</a:t>
            </a:r>
            <a:endParaRPr lang="en-US" sz="3600" dirty="0"/>
          </a:p>
        </p:txBody>
      </p:sp>
      <p:sp>
        <p:nvSpPr>
          <p:cNvPr id="20" name="Subtitle"/>
          <p:cNvSpPr/>
          <p:nvPr/>
        </p:nvSpPr>
        <p:spPr>
          <a:xfrm>
            <a:off x="548640" y="100584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associations flagged by ydata-profiling EDA — reviewed, directed, and encoded as 78 causal edges</a:t>
            </a:r>
            <a:endParaRPr lang="en-US" sz="1300" dirty="0"/>
          </a:p>
        </p:txBody>
      </p:sp>
      <p:sp>
        <p:nvSpPr>
          <p:cNvPr id="3" name="LeftCard"/>
          <p:cNvSpPr/>
          <p:nvPr/>
        </p:nvSpPr>
        <p:spPr>
          <a:xfrm>
            <a:off x="548640" y="1188720"/>
            <a:ext cx="3840480" cy="356616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LeftSectionTitle"/>
          <p:cNvSpPr/>
          <p:nvPr/>
        </p:nvSpPr>
        <p:spPr>
          <a:xfrm>
            <a:off x="77724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→ Correlation → Causal Edge</a:t>
            </a:r>
            <a:endParaRPr lang="en-US" sz="1600" dirty="0"/>
          </a:p>
        </p:txBody>
      </p:sp>
      <p:sp>
        <p:nvSpPr>
          <p:cNvPr id="5" name="Step1Header"/>
          <p:cNvSpPr/>
          <p:nvPr/>
        </p:nvSpPr>
        <p:spPr>
          <a:xfrm>
            <a:off x="777240" y="1783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Automated EDA Profiling</a:t>
            </a:r>
            <a:endParaRPr lang="en-US" sz="1300" dirty="0"/>
          </a:p>
        </p:txBody>
      </p:sp>
      <p:sp>
        <p:nvSpPr>
          <p:cNvPr id="6" name="Step1Body"/>
          <p:cNvSpPr/>
          <p:nvPr/>
        </p:nvSpPr>
        <p:spPr>
          <a:xfrm>
            <a:off x="777240" y="2011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ydata-profiling scanned 50+ merged features across patron and restaurant dataset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extracted via BeautifulSoup HTML parsing</a:t>
            </a:r>
            <a:endParaRPr lang="en-US" sz="1100" dirty="0"/>
          </a:p>
        </p:txBody>
      </p:sp>
      <p:sp>
        <p:nvSpPr>
          <p:cNvPr id="7" name="Step2Header"/>
          <p:cNvSpPr/>
          <p:nvPr/>
        </p:nvSpPr>
        <p:spPr>
          <a:xfrm>
            <a:off x="777240" y="2560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Correlation Review &amp; Direction</a:t>
            </a:r>
            <a:endParaRPr lang="en-US" sz="1300" dirty="0"/>
          </a:p>
        </p:txBody>
      </p:sp>
      <p:sp>
        <p:nvSpPr>
          <p:cNvPr id="8" name="Step2Body"/>
          <p:cNvSpPr/>
          <p:nvPr/>
        </p:nvSpPr>
        <p:spPr>
          <a:xfrm>
            <a:off x="777240" y="27889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flagged pair reviewed for domain validity and causal plausibility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Direction: demographics → preferences → rating</a:t>
            </a:r>
            <a:endParaRPr lang="en-US" sz="1100" dirty="0"/>
          </a:p>
        </p:txBody>
      </p:sp>
      <p:sp>
        <p:nvSpPr>
          <p:cNvPr id="9" name="Step3Header"/>
          <p:cNvSpPr/>
          <p:nvPr/>
        </p:nvSpPr>
        <p:spPr>
          <a:xfrm>
            <a:off x="777240" y="33375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— Edge Formalization</a:t>
            </a:r>
            <a:endParaRPr lang="en-US" sz="1300" dirty="0"/>
          </a:p>
        </p:txBody>
      </p:sp>
      <p:sp>
        <p:nvSpPr>
          <p:cNvPr id="10" name="Step3Body"/>
          <p:cNvSpPr/>
          <p:nvPr/>
        </p:nvSpPr>
        <p:spPr>
          <a:xfrm>
            <a:off x="777240" y="35661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pairs encoded as (cause, effect) tuples in correlation_edges list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edges passed to networkx DiGraph → causal graph construction</a:t>
            </a:r>
            <a:endParaRPr lang="en-US" sz="1100" dirty="0"/>
          </a:p>
        </p:txBody>
      </p:sp>
      <p:sp>
        <p:nvSpPr>
          <p:cNvPr id="11" name="RightCard"/>
          <p:cNvSpPr/>
          <p:nvPr/>
        </p:nvSpPr>
        <p:spPr>
          <a:xfrm>
            <a:off x="4754880" y="1188720"/>
            <a:ext cx="4023360" cy="356616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RightSectionTitle"/>
          <p:cNvSpPr/>
          <p:nvPr/>
        </p:nvSpPr>
        <p:spPr>
          <a:xfrm>
            <a:off x="4983480" y="13716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Outputs</a:t>
            </a:r>
            <a:endParaRPr lang="en-US" sz="1600" dirty="0"/>
          </a:p>
        </p:txBody>
      </p:sp>
      <p:sp>
        <p:nvSpPr>
          <p:cNvPr id="13" name="Stat1Num"/>
          <p:cNvSpPr/>
          <p:nvPr/>
        </p:nvSpPr>
        <p:spPr>
          <a:xfrm>
            <a:off x="4983480" y="1668780"/>
            <a:ext cx="16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</a:t>
            </a:r>
            <a:endParaRPr lang="en-US" sz="4800" dirty="0"/>
          </a:p>
        </p:txBody>
      </p:sp>
      <p:sp>
        <p:nvSpPr>
          <p:cNvPr id="14" name="Stat1Label"/>
          <p:cNvSpPr/>
          <p:nvPr/>
        </p:nvSpPr>
        <p:spPr>
          <a:xfrm>
            <a:off x="4983480" y="2194560"/>
            <a:ext cx="16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Edges</a:t>
            </a:r>
            <a:endParaRPr lang="en-US" sz="1100" dirty="0"/>
          </a:p>
        </p:txBody>
      </p:sp>
      <p:sp>
        <p:nvSpPr>
          <p:cNvPr id="15" name="Stat2Num"/>
          <p:cNvSpPr/>
          <p:nvPr/>
        </p:nvSpPr>
        <p:spPr>
          <a:xfrm>
            <a:off x="6766560" y="1577340"/>
            <a:ext cx="16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</a:t>
            </a:r>
            <a:endParaRPr lang="en-US" sz="4800" dirty="0"/>
          </a:p>
        </p:txBody>
      </p:sp>
      <p:sp>
        <p:nvSpPr>
          <p:cNvPr id="16" name="Stat2Label"/>
          <p:cNvSpPr/>
          <p:nvPr/>
        </p:nvSpPr>
        <p:spPr>
          <a:xfrm>
            <a:off x="6766560" y="2194560"/>
            <a:ext cx="16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(Variables)</a:t>
            </a:r>
            <a:endParaRPr lang="en-US" sz="1100" dirty="0"/>
          </a:p>
        </p:txBody>
      </p:sp>
      <p:sp>
        <p:nvSpPr>
          <p:cNvPr id="17" name="Stat3Num"/>
          <p:cNvSpPr/>
          <p:nvPr/>
        </p:nvSpPr>
        <p:spPr>
          <a:xfrm>
            <a:off x="4983480" y="2423160"/>
            <a:ext cx="16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800" dirty="0"/>
          </a:p>
        </p:txBody>
      </p:sp>
      <p:sp>
        <p:nvSpPr>
          <p:cNvPr id="18" name="Stat3Label"/>
          <p:cNvSpPr/>
          <p:nvPr/>
        </p:nvSpPr>
        <p:spPr>
          <a:xfrm>
            <a:off x="4983480" y="2926080"/>
            <a:ext cx="16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Treatments</a:t>
            </a:r>
            <a:endParaRPr lang="en-US" sz="1100" dirty="0"/>
          </a:p>
        </p:txBody>
      </p:sp>
      <p:sp>
        <p:nvSpPr>
          <p:cNvPr id="19" name="Stat4Num"/>
          <p:cNvSpPr/>
          <p:nvPr/>
        </p:nvSpPr>
        <p:spPr>
          <a:xfrm>
            <a:off x="6766560" y="2400300"/>
            <a:ext cx="165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</a:t>
            </a:r>
            <a:endParaRPr lang="en-US" sz="4800" dirty="0"/>
          </a:p>
        </p:txBody>
      </p:sp>
      <p:sp>
        <p:nvSpPr>
          <p:cNvPr id="21" name="Stat4Label"/>
          <p:cNvSpPr/>
          <p:nvPr/>
        </p:nvSpPr>
        <p:spPr>
          <a:xfrm>
            <a:off x="6766560" y="2926080"/>
            <a:ext cx="16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 Detected</a:t>
            </a:r>
            <a:endParaRPr lang="en-US" sz="1100" dirty="0"/>
          </a:p>
        </p:txBody>
      </p:sp>
      <p:sp>
        <p:nvSpPr>
          <p:cNvPr id="22" name="HubHeader"/>
          <p:cNvSpPr/>
          <p:nvPr/>
        </p:nvSpPr>
        <p:spPr>
          <a:xfrm>
            <a:off x="4983480" y="3337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Hub Variables</a:t>
            </a:r>
            <a:endParaRPr lang="en-US" sz="1300" dirty="0"/>
          </a:p>
        </p:txBody>
      </p:sp>
      <p:sp>
        <p:nvSpPr>
          <p:cNvPr id="23" name="HubBody"/>
          <p:cNvSpPr/>
          <p:nvPr/>
        </p:nvSpPr>
        <p:spPr>
          <a:xfrm>
            <a:off x="4983480" y="35661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8 incoming edges (most influenced)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8 outgoing edges (most influential)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restaurant_specialty</a:t>
            </a: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14 total connections (hub node)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usal Graph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2: Causal Graph (DAG)</a:t>
            </a:r>
            <a:endParaRPr lang="en-US" sz="3600" dirty="0"/>
          </a:p>
        </p:txBody>
      </p:sp>
      <p:pic>
        <p:nvPicPr>
          <p:cNvPr id="3" name="CausalGrap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50" y="685800"/>
            <a:ext cx="6230700" cy="4300200"/>
          </a:xfrm>
          <a:prstGeom prst="rect">
            <a:avLst/>
          </a:prstGeom>
        </p:spPr>
      </p:pic>
      <p:sp>
        <p:nvSpPr>
          <p:cNvPr id="4" name="Caption"/>
          <p:cNvSpPr/>
          <p:nvPr/>
        </p:nvSpPr>
        <p:spPr>
          <a:xfrm>
            <a:off x="548640" y="4986000"/>
            <a:ext cx="8046720" cy="1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nodes  ·  78 directed edges  ·  7 direct treatment variables  ·  53 cycles detected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3: Treatment Attribution Results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82.84%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38328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42.58%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21792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Driver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food_rating Dominates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42.58% relative importance | Direct effect: +0.3632 | Shapley: 33.66% | Largest single driver of overall rating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service_rating Nearly Equal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41.72% relative importance | Direct effect: +0.3609 | Shapley: 33.34% | Food and service together explain 84% of treatment attribution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hijos — Negative Effect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9.00% relative importance | Direct effect: −0.0950 (controlling for mediators) | Shapley: 16.22% | Total causal effect is POSITIVE (+0.720 IPW ATE) — mediators reverse sign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 Minimal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3.16% | interest 2.45% | color 1.05% | personality 0.04% — demographic factors have negligible causal impact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11F1AD-114A-E524-DF0F-4D192DD3B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76" y="482599"/>
            <a:ext cx="7173047" cy="4178300"/>
          </a:xfrm>
          <a:prstGeom prst="rect">
            <a:avLst/>
          </a:prstGeom>
        </p:spPr>
      </p:pic>
      <p:sp>
        <p:nvSpPr>
          <p:cNvPr id="10" name="TitleBar"/>
          <p:cNvSpPr/>
          <p:nvPr/>
        </p:nvSpPr>
        <p:spPr>
          <a:xfrm>
            <a:off x="548640" y="60000"/>
            <a:ext cx="8229600" cy="390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A44"/>
                </a:solidFill>
                <a:latin typeface="Georgia" pitchFamily="34" charset="0"/>
              </a:rPr>
              <a:t>Phase 3: Treatment Attribution — Visualisations</a:t>
            </a:r>
          </a:p>
        </p:txBody>
      </p:sp>
      <p:sp>
        <p:nvSpPr>
          <p:cNvPr id="11" name="NotesBar"/>
          <p:cNvSpPr/>
          <p:nvPr/>
        </p:nvSpPr>
        <p:spPr>
          <a:xfrm>
            <a:off x="548640" y="4720000"/>
            <a:ext cx="8229600" cy="370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wrap="square" lIns="114300" tIns="45720" rIns="114300" bIns="4572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Note: 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Shapley value decomposition, OLS relative importance, and DoWhy causal estimates across 7 treatment variables. Food rating (42.6%) and service rating (41.7%) dominate attribution (R² = 82.8%).</a:t>
            </a:r>
          </a:p>
        </p:txBody>
      </p:sp>
    </p:spTree>
    <p:extLst>
      <p:ext uri="{BB962C8B-B14F-4D97-AF65-F5344CB8AC3E}">
        <p14:creationId xmlns:p14="http://schemas.microsoft.com/office/powerpoint/2010/main" val="10152623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4: Mediation Analysis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100.2%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62.3%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38328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0.51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21792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— Fully Mediated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100.2% of effect flows through mediators | Food: 52.9% | Service: 47.2% | Direct effect: +0.0015 (negligible) | Activity affects ratings almost entirely via food and service quality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personality — Food-Dominant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 total mediated | Food pathway: 75.2% | Service pathway: 24.8% | Direct effect: +0.026 | Personality type shapes food preferences, driving rating differences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age_group — Service-Dominant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62.3% total mediated | Service pathway: 61.8% | Food pathway: 38.2% | Direct effect: −0.022 | Older/younger groups differ mainly in service expectations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User_cuisine — Mostly Direct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40.9% mediated | Indirect via food: 28.1% | Via service: 12.9% | Direct effect: −0.0014 | Cuisine preference has a largely direct impact on rating — not via food/service quality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D9FC6AC-4A12-4825-8ABE-0732B8EF4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67C510-B3C2-7960-4BEC-F16936853B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952" r="-2" b="15209"/>
          <a:stretch>
            <a:fillRect/>
          </a:stretch>
        </p:blipFill>
        <p:spPr>
          <a:xfrm>
            <a:off x="20" y="530577"/>
            <a:ext cx="9031091" cy="4075289"/>
          </a:xfrm>
          <a:custGeom>
            <a:avLst/>
            <a:gdLst/>
            <a:ahLst/>
            <a:cxnLst/>
            <a:rect l="l" t="t" r="r" b="b"/>
            <a:pathLst>
              <a:path w="11862683" h="6858000">
                <a:moveTo>
                  <a:pt x="0" y="0"/>
                </a:moveTo>
                <a:lnTo>
                  <a:pt x="4038600" y="0"/>
                </a:lnTo>
                <a:lnTo>
                  <a:pt x="4114800" y="0"/>
                </a:lnTo>
                <a:lnTo>
                  <a:pt x="4282294" y="0"/>
                </a:lnTo>
                <a:lnTo>
                  <a:pt x="6139260" y="0"/>
                </a:lnTo>
                <a:lnTo>
                  <a:pt x="6362810" y="0"/>
                </a:lnTo>
                <a:lnTo>
                  <a:pt x="7272221" y="0"/>
                </a:lnTo>
                <a:lnTo>
                  <a:pt x="10815342" y="0"/>
                </a:lnTo>
                <a:cubicBezTo>
                  <a:pt x="10709672" y="35571"/>
                  <a:pt x="10607020" y="78255"/>
                  <a:pt x="10501350" y="110269"/>
                </a:cubicBezTo>
                <a:cubicBezTo>
                  <a:pt x="10516447" y="145839"/>
                  <a:pt x="10531542" y="138725"/>
                  <a:pt x="10546639" y="135168"/>
                </a:cubicBezTo>
                <a:cubicBezTo>
                  <a:pt x="10637212" y="120941"/>
                  <a:pt x="10730806" y="110269"/>
                  <a:pt x="10818360" y="71141"/>
                </a:cubicBezTo>
                <a:cubicBezTo>
                  <a:pt x="10839496" y="64027"/>
                  <a:pt x="10863648" y="64027"/>
                  <a:pt x="10872705" y="88927"/>
                </a:cubicBezTo>
                <a:cubicBezTo>
                  <a:pt x="10887801" y="124497"/>
                  <a:pt x="10866668" y="145839"/>
                  <a:pt x="10845532" y="163625"/>
                </a:cubicBezTo>
                <a:cubicBezTo>
                  <a:pt x="10809304" y="195638"/>
                  <a:pt x="10767036" y="188525"/>
                  <a:pt x="10727787" y="192082"/>
                </a:cubicBezTo>
                <a:cubicBezTo>
                  <a:pt x="10619098" y="209867"/>
                  <a:pt x="10567772" y="259665"/>
                  <a:pt x="10543619" y="373491"/>
                </a:cubicBezTo>
                <a:cubicBezTo>
                  <a:pt x="10637212" y="327250"/>
                  <a:pt x="10730806" y="384162"/>
                  <a:pt x="10821380" y="352148"/>
                </a:cubicBezTo>
                <a:cubicBezTo>
                  <a:pt x="10845532" y="345034"/>
                  <a:pt x="10881763" y="355706"/>
                  <a:pt x="10869686" y="394834"/>
                </a:cubicBezTo>
                <a:cubicBezTo>
                  <a:pt x="10857610" y="430405"/>
                  <a:pt x="10818360" y="458860"/>
                  <a:pt x="10887801" y="451747"/>
                </a:cubicBezTo>
                <a:cubicBezTo>
                  <a:pt x="10939127" y="448189"/>
                  <a:pt x="10954222" y="405504"/>
                  <a:pt x="10969318" y="359262"/>
                </a:cubicBezTo>
                <a:cubicBezTo>
                  <a:pt x="10981394" y="334364"/>
                  <a:pt x="11014605" y="320135"/>
                  <a:pt x="11038758" y="334364"/>
                </a:cubicBezTo>
                <a:cubicBezTo>
                  <a:pt x="11068949" y="348592"/>
                  <a:pt x="11059892" y="387720"/>
                  <a:pt x="11059892" y="416176"/>
                </a:cubicBezTo>
                <a:cubicBezTo>
                  <a:pt x="11062912" y="469532"/>
                  <a:pt x="11038758" y="494431"/>
                  <a:pt x="10996491" y="505101"/>
                </a:cubicBezTo>
                <a:cubicBezTo>
                  <a:pt x="10945164" y="519330"/>
                  <a:pt x="10893840" y="537116"/>
                  <a:pt x="10827418" y="558458"/>
                </a:cubicBezTo>
                <a:cubicBezTo>
                  <a:pt x="10899878" y="594028"/>
                  <a:pt x="10954222" y="586915"/>
                  <a:pt x="11008566" y="558458"/>
                </a:cubicBezTo>
                <a:cubicBezTo>
                  <a:pt x="11074988" y="526444"/>
                  <a:pt x="11162542" y="483759"/>
                  <a:pt x="11216886" y="522887"/>
                </a:cubicBezTo>
                <a:cubicBezTo>
                  <a:pt x="11298403" y="579800"/>
                  <a:pt x="11364824" y="544229"/>
                  <a:pt x="11437284" y="533558"/>
                </a:cubicBezTo>
                <a:cubicBezTo>
                  <a:pt x="11588242" y="512216"/>
                  <a:pt x="11494648" y="480203"/>
                  <a:pt x="11645605" y="462417"/>
                </a:cubicBezTo>
                <a:cubicBezTo>
                  <a:pt x="11705988" y="455303"/>
                  <a:pt x="11769390" y="426847"/>
                  <a:pt x="11856944" y="465975"/>
                </a:cubicBezTo>
                <a:cubicBezTo>
                  <a:pt x="11461437" y="672284"/>
                  <a:pt x="11274250" y="658055"/>
                  <a:pt x="10921012" y="910606"/>
                </a:cubicBezTo>
                <a:cubicBezTo>
                  <a:pt x="10936107" y="935506"/>
                  <a:pt x="10951202" y="924835"/>
                  <a:pt x="10966299" y="921277"/>
                </a:cubicBezTo>
                <a:cubicBezTo>
                  <a:pt x="10990452" y="917720"/>
                  <a:pt x="11020644" y="903491"/>
                  <a:pt x="11026682" y="949734"/>
                </a:cubicBezTo>
                <a:cubicBezTo>
                  <a:pt x="11029702" y="985305"/>
                  <a:pt x="11011585" y="1003089"/>
                  <a:pt x="10981394" y="1006647"/>
                </a:cubicBezTo>
                <a:cubicBezTo>
                  <a:pt x="10893840" y="1020875"/>
                  <a:pt x="10815342" y="1070674"/>
                  <a:pt x="10736844" y="1113358"/>
                </a:cubicBezTo>
                <a:cubicBezTo>
                  <a:pt x="10700615" y="1131144"/>
                  <a:pt x="10661366" y="1156043"/>
                  <a:pt x="10676462" y="1220069"/>
                </a:cubicBezTo>
                <a:cubicBezTo>
                  <a:pt x="10706652" y="1237855"/>
                  <a:pt x="10727787" y="1212955"/>
                  <a:pt x="10751940" y="1209399"/>
                </a:cubicBezTo>
                <a:cubicBezTo>
                  <a:pt x="10776093" y="1205842"/>
                  <a:pt x="10833457" y="1220069"/>
                  <a:pt x="10818360" y="1230741"/>
                </a:cubicBezTo>
                <a:cubicBezTo>
                  <a:pt x="10748920" y="1269868"/>
                  <a:pt x="10875724" y="1365909"/>
                  <a:pt x="10791190" y="1365909"/>
                </a:cubicBezTo>
                <a:cubicBezTo>
                  <a:pt x="10652309" y="1365909"/>
                  <a:pt x="10576830" y="1536647"/>
                  <a:pt x="10443988" y="1540204"/>
                </a:cubicBezTo>
                <a:cubicBezTo>
                  <a:pt x="10422854" y="1540204"/>
                  <a:pt x="10413797" y="1572219"/>
                  <a:pt x="10413797" y="1597117"/>
                </a:cubicBezTo>
                <a:cubicBezTo>
                  <a:pt x="10413797" y="1629132"/>
                  <a:pt x="10434930" y="1632688"/>
                  <a:pt x="10456064" y="1636245"/>
                </a:cubicBezTo>
                <a:cubicBezTo>
                  <a:pt x="10489275" y="1639802"/>
                  <a:pt x="10525504" y="1597117"/>
                  <a:pt x="10567772" y="1657587"/>
                </a:cubicBezTo>
                <a:cubicBezTo>
                  <a:pt x="10489275" y="1693158"/>
                  <a:pt x="10407758" y="1728729"/>
                  <a:pt x="10410777" y="1849668"/>
                </a:cubicBezTo>
                <a:cubicBezTo>
                  <a:pt x="10410777" y="1881683"/>
                  <a:pt x="10377566" y="1895910"/>
                  <a:pt x="10353413" y="1903025"/>
                </a:cubicBezTo>
                <a:cubicBezTo>
                  <a:pt x="10311146" y="1917252"/>
                  <a:pt x="10277935" y="1938595"/>
                  <a:pt x="10253782" y="1984836"/>
                </a:cubicBezTo>
                <a:cubicBezTo>
                  <a:pt x="10253782" y="1995507"/>
                  <a:pt x="10253782" y="2002622"/>
                  <a:pt x="10253782" y="2013292"/>
                </a:cubicBezTo>
                <a:cubicBezTo>
                  <a:pt x="10259820" y="2123562"/>
                  <a:pt x="10320202" y="2120004"/>
                  <a:pt x="10386624" y="2102219"/>
                </a:cubicBezTo>
                <a:cubicBezTo>
                  <a:pt x="10465122" y="2080877"/>
                  <a:pt x="10543619" y="2038192"/>
                  <a:pt x="10628156" y="2077320"/>
                </a:cubicBezTo>
                <a:cubicBezTo>
                  <a:pt x="10510408" y="2130676"/>
                  <a:pt x="10380586" y="2134233"/>
                  <a:pt x="10271896" y="2208931"/>
                </a:cubicBezTo>
                <a:cubicBezTo>
                  <a:pt x="10676462" y="2223159"/>
                  <a:pt x="11032720" y="1984836"/>
                  <a:pt x="11425208" y="1892353"/>
                </a:cubicBezTo>
                <a:cubicBezTo>
                  <a:pt x="11413131" y="1952823"/>
                  <a:pt x="11379920" y="1967051"/>
                  <a:pt x="11352748" y="1974165"/>
                </a:cubicBezTo>
                <a:cubicBezTo>
                  <a:pt x="11207830" y="2020407"/>
                  <a:pt x="11081026" y="2112891"/>
                  <a:pt x="10948184" y="2191146"/>
                </a:cubicBezTo>
                <a:cubicBezTo>
                  <a:pt x="10893840" y="2223159"/>
                  <a:pt x="10854590" y="2258731"/>
                  <a:pt x="10833457" y="2326314"/>
                </a:cubicBezTo>
                <a:cubicBezTo>
                  <a:pt x="10815342" y="2390340"/>
                  <a:pt x="10779112" y="2418796"/>
                  <a:pt x="10712690" y="2401012"/>
                </a:cubicBezTo>
                <a:cubicBezTo>
                  <a:pt x="10658346" y="2386784"/>
                  <a:pt x="10600982" y="2393898"/>
                  <a:pt x="10543619" y="2401012"/>
                </a:cubicBezTo>
                <a:cubicBezTo>
                  <a:pt x="10480218" y="2408126"/>
                  <a:pt x="10407758" y="2479267"/>
                  <a:pt x="10422854" y="2518395"/>
                </a:cubicBezTo>
                <a:cubicBezTo>
                  <a:pt x="10453044" y="2582422"/>
                  <a:pt x="10504370" y="2550408"/>
                  <a:pt x="10546639" y="2543294"/>
                </a:cubicBezTo>
                <a:cubicBezTo>
                  <a:pt x="10597964" y="2536181"/>
                  <a:pt x="10691556" y="2518395"/>
                  <a:pt x="10691556" y="2525509"/>
                </a:cubicBezTo>
                <a:cubicBezTo>
                  <a:pt x="10724768" y="2685576"/>
                  <a:pt x="10800246" y="2564636"/>
                  <a:pt x="10854590" y="2564636"/>
                </a:cubicBezTo>
                <a:cubicBezTo>
                  <a:pt x="10905916" y="2564636"/>
                  <a:pt x="10957241" y="2546851"/>
                  <a:pt x="11005548" y="2532623"/>
                </a:cubicBezTo>
                <a:cubicBezTo>
                  <a:pt x="11068949" y="2514837"/>
                  <a:pt x="11126312" y="2546851"/>
                  <a:pt x="11186696" y="2553965"/>
                </a:cubicBezTo>
                <a:cubicBezTo>
                  <a:pt x="11241040" y="2561080"/>
                  <a:pt x="11210850" y="2653563"/>
                  <a:pt x="11244060" y="2692689"/>
                </a:cubicBezTo>
                <a:cubicBezTo>
                  <a:pt x="11250097" y="2703362"/>
                  <a:pt x="11256136" y="2703362"/>
                  <a:pt x="11262174" y="2703362"/>
                </a:cubicBezTo>
                <a:cubicBezTo>
                  <a:pt x="11280289" y="2980812"/>
                  <a:pt x="11597299" y="2913227"/>
                  <a:pt x="11597299" y="2923898"/>
                </a:cubicBezTo>
                <a:cubicBezTo>
                  <a:pt x="11624471" y="2941684"/>
                  <a:pt x="11657682" y="2899000"/>
                  <a:pt x="11690892" y="2941684"/>
                </a:cubicBezTo>
                <a:cubicBezTo>
                  <a:pt x="11548993" y="3137322"/>
                  <a:pt x="11331614" y="3183563"/>
                  <a:pt x="11138390" y="3329402"/>
                </a:cubicBezTo>
                <a:cubicBezTo>
                  <a:pt x="11298403" y="3379202"/>
                  <a:pt x="11391998" y="3208463"/>
                  <a:pt x="11509744" y="3229805"/>
                </a:cubicBezTo>
                <a:cubicBezTo>
                  <a:pt x="11567107" y="3283162"/>
                  <a:pt x="11395016" y="3368530"/>
                  <a:pt x="11561068" y="3393429"/>
                </a:cubicBezTo>
                <a:cubicBezTo>
                  <a:pt x="11488610" y="3439672"/>
                  <a:pt x="11437284" y="3485914"/>
                  <a:pt x="11385959" y="3539269"/>
                </a:cubicBezTo>
                <a:cubicBezTo>
                  <a:pt x="11298403" y="3635309"/>
                  <a:pt x="11280289" y="3699337"/>
                  <a:pt x="11322556" y="3827390"/>
                </a:cubicBezTo>
                <a:cubicBezTo>
                  <a:pt x="11349730" y="3912759"/>
                  <a:pt x="11388978" y="3991015"/>
                  <a:pt x="11352748" y="4090612"/>
                </a:cubicBezTo>
                <a:cubicBezTo>
                  <a:pt x="11328595" y="4158196"/>
                  <a:pt x="11337653" y="4204438"/>
                  <a:pt x="11428226" y="4172424"/>
                </a:cubicBezTo>
                <a:cubicBezTo>
                  <a:pt x="11524840" y="4140411"/>
                  <a:pt x="11561068" y="4200882"/>
                  <a:pt x="11536915" y="4321821"/>
                </a:cubicBezTo>
                <a:cubicBezTo>
                  <a:pt x="11521821" y="4400076"/>
                  <a:pt x="11536915" y="4424975"/>
                  <a:pt x="11603338" y="4414305"/>
                </a:cubicBezTo>
                <a:cubicBezTo>
                  <a:pt x="11675796" y="4403633"/>
                  <a:pt x="11745236" y="4353835"/>
                  <a:pt x="11835811" y="4378734"/>
                </a:cubicBezTo>
                <a:cubicBezTo>
                  <a:pt x="11763352" y="4521016"/>
                  <a:pt x="11609374" y="4478331"/>
                  <a:pt x="11524840" y="4613499"/>
                </a:cubicBezTo>
                <a:cubicBezTo>
                  <a:pt x="11624471" y="4613499"/>
                  <a:pt x="11702969" y="4613499"/>
                  <a:pt x="11775427" y="4585042"/>
                </a:cubicBezTo>
                <a:cubicBezTo>
                  <a:pt x="11805619" y="4574373"/>
                  <a:pt x="11838830" y="4560144"/>
                  <a:pt x="11856944" y="4602828"/>
                </a:cubicBezTo>
                <a:cubicBezTo>
                  <a:pt x="11878080" y="4652628"/>
                  <a:pt x="11835811" y="4670412"/>
                  <a:pt x="11811658" y="4677526"/>
                </a:cubicBezTo>
                <a:cubicBezTo>
                  <a:pt x="11742216" y="4702425"/>
                  <a:pt x="11687874" y="4759339"/>
                  <a:pt x="11627490" y="4805580"/>
                </a:cubicBezTo>
                <a:cubicBezTo>
                  <a:pt x="11497668" y="4905177"/>
                  <a:pt x="11355767" y="4990547"/>
                  <a:pt x="11247078" y="5154171"/>
                </a:cubicBezTo>
                <a:cubicBezTo>
                  <a:pt x="11382940" y="5111487"/>
                  <a:pt x="11485590" y="5011889"/>
                  <a:pt x="11615414" y="4994104"/>
                </a:cubicBezTo>
                <a:cubicBezTo>
                  <a:pt x="11503704" y="5143500"/>
                  <a:pt x="11361806" y="5243097"/>
                  <a:pt x="11228964" y="5353367"/>
                </a:cubicBezTo>
                <a:cubicBezTo>
                  <a:pt x="11189714" y="5385379"/>
                  <a:pt x="11150466" y="5406721"/>
                  <a:pt x="11144428" y="5474306"/>
                </a:cubicBezTo>
                <a:cubicBezTo>
                  <a:pt x="11126312" y="5605917"/>
                  <a:pt x="11078008" y="5712629"/>
                  <a:pt x="10969318" y="5769542"/>
                </a:cubicBezTo>
                <a:cubicBezTo>
                  <a:pt x="10969318" y="5769542"/>
                  <a:pt x="10975356" y="5790884"/>
                  <a:pt x="10978374" y="5801555"/>
                </a:cubicBezTo>
                <a:cubicBezTo>
                  <a:pt x="11044797" y="5805112"/>
                  <a:pt x="11096122" y="5726858"/>
                  <a:pt x="11177639" y="5755314"/>
                </a:cubicBezTo>
                <a:cubicBezTo>
                  <a:pt x="11096122" y="5862025"/>
                  <a:pt x="11029702" y="5954508"/>
                  <a:pt x="10917992" y="6004307"/>
                </a:cubicBezTo>
                <a:cubicBezTo>
                  <a:pt x="10827418" y="6043434"/>
                  <a:pt x="10715710" y="6068335"/>
                  <a:pt x="10649289" y="6196388"/>
                </a:cubicBezTo>
                <a:cubicBezTo>
                  <a:pt x="10724768" y="6221287"/>
                  <a:pt x="10782132" y="6189274"/>
                  <a:pt x="10839496" y="6167932"/>
                </a:cubicBezTo>
                <a:cubicBezTo>
                  <a:pt x="10927050" y="6132361"/>
                  <a:pt x="11014605" y="6093234"/>
                  <a:pt x="11102160" y="6057663"/>
                </a:cubicBezTo>
                <a:cubicBezTo>
                  <a:pt x="11135372" y="6043434"/>
                  <a:pt x="11171600" y="6036320"/>
                  <a:pt x="11192734" y="6100347"/>
                </a:cubicBezTo>
                <a:cubicBezTo>
                  <a:pt x="11081026" y="6114575"/>
                  <a:pt x="11014605" y="6199945"/>
                  <a:pt x="10945164" y="6281757"/>
                </a:cubicBezTo>
                <a:cubicBezTo>
                  <a:pt x="10905916" y="6327999"/>
                  <a:pt x="10872705" y="6388469"/>
                  <a:pt x="10803265" y="6367127"/>
                </a:cubicBezTo>
                <a:cubicBezTo>
                  <a:pt x="10767036" y="6356456"/>
                  <a:pt x="10742882" y="6388469"/>
                  <a:pt x="10745901" y="6431153"/>
                </a:cubicBezTo>
                <a:cubicBezTo>
                  <a:pt x="10760998" y="6580550"/>
                  <a:pt x="10673442" y="6630349"/>
                  <a:pt x="10582868" y="6658805"/>
                </a:cubicBezTo>
                <a:cubicBezTo>
                  <a:pt x="10450026" y="6701489"/>
                  <a:pt x="10332280" y="6786859"/>
                  <a:pt x="10208496" y="6858000"/>
                </a:cubicBezTo>
                <a:lnTo>
                  <a:pt x="7272221" y="6858000"/>
                </a:lnTo>
                <a:lnTo>
                  <a:pt x="6362810" y="6858000"/>
                </a:lnTo>
                <a:lnTo>
                  <a:pt x="6139260" y="6858000"/>
                </a:lnTo>
                <a:lnTo>
                  <a:pt x="4282294" y="6858000"/>
                </a:lnTo>
                <a:lnTo>
                  <a:pt x="4114800" y="6858000"/>
                </a:lnTo>
                <a:lnTo>
                  <a:pt x="40386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0" name="TitleBar"/>
          <p:cNvSpPr/>
          <p:nvPr/>
        </p:nvSpPr>
        <p:spPr>
          <a:xfrm>
            <a:off x="0" y="0"/>
            <a:ext cx="9144000" cy="440000"/>
          </a:xfrm>
          <a:prstGeom prst="rect">
            <a:avLst/>
          </a:prstGeom>
          <a:solidFill>
            <a:srgbClr val="0F2A44">
              <a:alpha val="90000"/>
            </a:srgbClr>
          </a:solidFill>
          <a:ln>
            <a:noFill/>
          </a:ln>
        </p:spPr>
        <p:txBody>
          <a:bodyPr wrap="square" lIns="182880" tIns="45720" rIns="182880" bIns="4572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</a:rPr>
              <a:t>Phase 4: Mediation Analysis — Output Charts</a:t>
            </a:r>
          </a:p>
        </p:txBody>
      </p:sp>
      <p:sp>
        <p:nvSpPr>
          <p:cNvPr id="11" name="NotesBar"/>
          <p:cNvSpPr/>
          <p:nvPr/>
        </p:nvSpPr>
        <p:spPr>
          <a:xfrm>
            <a:off x="0" y="4720000"/>
            <a:ext cx="9144000" cy="423500"/>
          </a:xfrm>
          <a:prstGeom prst="rect">
            <a:avLst/>
          </a:prstGeom>
          <a:solidFill>
            <a:srgbClr val="0D9488">
              <a:alpha val="92000"/>
            </a:srgbClr>
          </a:solidFill>
          <a:ln>
            <a:noFill/>
          </a:ln>
        </p:spPr>
        <p:txBody>
          <a:bodyPr wrap="square" lIns="182880" tIns="45720" rIns="182880" bIns="4572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</a:rPr>
              <a:t>Note: 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Effect decomposition via food and service quality mediators. Activity is fully mediated (100.2%); personality is food-dominant (75.2%); age group is service-dominant (61.8%); cuisine preference acts mostly directly (59.1%).</a:t>
            </a:r>
          </a:p>
        </p:txBody>
      </p:sp>
    </p:spTree>
    <p:extLst>
      <p:ext uri="{BB962C8B-B14F-4D97-AF65-F5344CB8AC3E}">
        <p14:creationId xmlns:p14="http://schemas.microsoft.com/office/powerpoint/2010/main" val="1890385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4: Hijos — HTE Analysis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+0.720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IPW ATE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38328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2560320" cy="137160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0" y="12344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1.047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217920" y="2011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 Range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Effect of Having Children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IPW ATE: +0.720 (95% CI: [+0.627, +0.814]) | Adjusted ATE: +0.206 controlling for 8 confounders | Unadjusted: +0.723 (n=162 treated, 31,397 control) | Families rate restaurants significantly HIGHER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846320" y="283464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46320" y="283464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Decomposition (17 Paths)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0" y="3200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Food: +0.506 (19.8%) | Via Service: +0.504 (19.8%) | Via Personality: +0.484 (19.0%) | Via Height: +0.473 (18.6%) | Via Color: +0.451 (17.7%) | Via Interest: +0.130 (5.1%)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152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HTE by Business Hours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Morning: ATE = +1.476 ★ strongest | Night: ATE = +0.803 | Evening: ATE = +0.803 | Afternoon: ATE = +0.758 | Full Day: ATE = +0.430 ★ weakest | Range: 1.047 rating points across segments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931920"/>
            <a:ext cx="4023360" cy="960120"/>
          </a:xfrm>
          <a:prstGeom prst="rect">
            <a:avLst/>
          </a:prstGeom>
          <a:solidFill>
            <a:srgbClr val="F0FDF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3931920"/>
            <a:ext cx="54864" cy="9601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0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Recommendation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029200" y="4297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family-friendly features for morning &amp; night windows. Priority: food quality (19.8%), service quality (19.8%), environment. Morning-opening restaurants gain most.</a:t>
            </a:r>
            <a:endParaRPr lang="en-US" sz="1100" dirty="0"/>
          </a:p>
        </p:txBody>
      </p:sp>
      <p:sp>
        <p:nvSpPr>
          <p:cNvPr id="28" name="Subtitle"/>
          <p:cNvSpPr/>
          <p:nvPr/>
        </p:nvSpPr>
        <p:spPr>
          <a:xfrm>
            <a:off x="548640" y="1005840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Question: Why do families with children rate restaurants differently — and through which pathways?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D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Analytical Methodology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Graph-Informed Analysis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enumeration (treatment → outcome)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Mediator identification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 detection (backdoor)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Dominance analysis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importance weighting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46320" y="118872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846320" y="118872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Attribution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16916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correlation baseline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effects (OLS, standardized)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R² (drop-one)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Shapley value decomposition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DoWhy backdoor estimation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 Analysis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effect (c’): Treatment → Rating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via food (a₁×b₁)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via service (a₂×b₂)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 mediated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comparison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46320" y="3108960"/>
            <a:ext cx="402336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846320" y="3108960"/>
            <a:ext cx="4023360" cy="54864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29200" y="3246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Treatment Effects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0" y="36118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causal pathways for hijos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IPW with stabilized weights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confidence intervals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Subgroup-specific ATE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score overlap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Inference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DoWhy, DAGs, Backdoor Criterion, Propensity Scores, Mediation, IPW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&amp; Data Science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numpy, scikit-learn, scipy, statsmodels, networkx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matplotlib, seaborn, networkx graph viz, path diagrams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237744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0" y="2468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merging (9 tables), feature engineering, geodesic distance, KMeans clustering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Methods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114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OLS, Logistic Regression, Bootstrap CI, Shapley Values, F-tests, ATE estimation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3657600"/>
            <a:ext cx="4023360" cy="10972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SQL-Adjacent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0" y="4114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LEFT JOINs across relational tables (users, restaurants, ratings, cuisines, payments)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1371600"/>
            <a:ext cx="4572000" cy="4572000"/>
          </a:xfrm>
          <a:prstGeom prst="ellipse">
            <a:avLst/>
          </a:prstGeom>
          <a:solidFill>
            <a:srgbClr val="0D9488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2286000"/>
            <a:ext cx="4572000" cy="4572000"/>
          </a:xfrm>
          <a:prstGeom prst="ellipse">
            <a:avLst/>
          </a:prstGeom>
          <a:solidFill>
            <a:srgbClr val="14B8A6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22860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Ella Ndalla</a:t>
            </a:r>
            <a:endParaRPr lang="en-US" sz="2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0040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ndallaella@gmail.com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3657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Causal_inference-Case_study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1370</TotalTime>
  <Words>1459</Words>
  <Application>Microsoft Macintosh PowerPoint</Application>
  <PresentationFormat>On-screen Show (16:9)</PresentationFormat>
  <Paragraphs>194</Paragraphs>
  <Slides>15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Inference Case Study: Restaurant Rating Attribution</dc:title>
  <dc:subject>PptxGenJS Presentation</dc:subject>
  <dc:creator>Ella Ndala</dc:creator>
  <cp:lastModifiedBy>Ella Ndalla</cp:lastModifiedBy>
  <cp:revision>5</cp:revision>
  <dcterms:created xsi:type="dcterms:W3CDTF">2026-02-13T22:15:37Z</dcterms:created>
  <dcterms:modified xsi:type="dcterms:W3CDTF">2026-05-12T23:25:51Z</dcterms:modified>
</cp:coreProperties>
</file>