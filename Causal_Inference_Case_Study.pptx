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5" r:id="rId4"/>
    <p:sldId id="266" r:id="rId5"/>
    <p:sldId id="258" r:id="rId6"/>
    <p:sldId id="273" r:id="rId7"/>
    <p:sldId id="272" r:id="rId8"/>
    <p:sldId id="269" r:id="rId9"/>
    <p:sldId id="274" r:id="rId10"/>
    <p:sldId id="270" r:id="rId11"/>
    <p:sldId id="275" r:id="rId12"/>
    <p:sldId id="271" r:id="rId13"/>
    <p:sldId id="260" r:id="rId14"/>
    <p:sldId id="262" r:id="rId15"/>
    <p:sldId id="26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7"/>
    <p:restoredTop sz="95789"/>
  </p:normalViewPr>
  <p:slideViewPr>
    <p:cSldViewPr snapToGrid="0" snapToObjects="1">
      <p:cViewPr varScale="1">
        <p:scale>
          <a:sx n="147" d="100"/>
          <a:sy n="147" d="100"/>
        </p:scale>
        <p:origin x="43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149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Attribution Analysis by treatment (direct Effect and Relative </a:t>
            </a:r>
            <a:r>
              <a:rPr lang="en-US" dirty="0" err="1"/>
              <a:t>Importantce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72219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Mediation analysis for </a:t>
            </a:r>
          </a:p>
        </p:txBody>
      </p:sp>
    </p:spTree>
    <p:extLst>
      <p:ext uri="{BB962C8B-B14F-4D97-AF65-F5344CB8AC3E}">
        <p14:creationId xmlns:p14="http://schemas.microsoft.com/office/powerpoint/2010/main" val="205106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D9488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498080" y="3200400"/>
            <a:ext cx="2743200" cy="2743200"/>
          </a:xfrm>
          <a:prstGeom prst="ellipse">
            <a:avLst/>
          </a:prstGeom>
          <a:solidFill>
            <a:srgbClr val="14B8A6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 Inference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 Study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Rating Attribution Analysis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2860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Ella Ndala  |  Portfolio Project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280160"/>
          </a:xfrm>
          <a:prstGeom prst="rect">
            <a:avLst/>
          </a:prstGeom>
          <a:solidFill>
            <a:srgbClr val="0F172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factors causally drive restaurant ratings,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through which pathways do they operate?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9260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Correlation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true causal drivers — not just associations — to enable actionable business decisions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38328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29260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at Scale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6616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Decomposing effects through mediation pathways using Shapley values and DoWhy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1792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1792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29260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Effects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0080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how causal impacts vary across customer segments for targeted strategy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Phase 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280160"/>
          </a:xfrm>
          <a:prstGeom prst="rect">
            <a:avLst/>
          </a:prstGeom>
          <a:solidFill>
            <a:srgbClr val="0F172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analytical phases — from raw data to causal insights and actionable recommendations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Data Pipeline &amp; Feature Engineering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9 relational CSVs, merge patrons and restaurants, clean features, engineer distance and match scores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38328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9260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2-3: Causal Graph &amp; Attribution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6616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31-node DAG, identify 7 direct treatments; dual attribution via Shapley values and DoWhy backdoor identification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1792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1792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9260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Mediation Analysis &amp; HTE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0080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treatment effects through food and service mediators; analyse 17 identified HTE pathways for hijos via IPW and propensity scoring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1-2: Data Analysis &amp; Preprocessing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EDA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9 relational CSV files from 00_Raw_Data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patrons + restaurants on userID and placeID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distributions with ydata-profiling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EDA report: Reports/EDA_Reports/eda_report.html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Preprocessing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? sentinel values with NaN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business hours: Morning/Afternoon/Evening/24H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 missing values (most-frequent strategy)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final_data.pkl — 31,559 rows × 52 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Patron-restaurant distance (Haversine km)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clusters — KMeans k=5 on lat/long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groups — 18-25, 26-35, 36-50, 50+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Cuisine match score — Jaccard similarity (0-1)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4632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 via data_pipeline.py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Phases: Ingest → Merge → Clean → Engineer → Impute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source tables joined in sequence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Modular, rerunnable, extensible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Pipeline &amp; Feature Engineering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2588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280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Relational Data Sources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77240" y="182880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userprofile — Demographics &amp; preferences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usercuisine — Cuisine preferences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userpayment — Payment methods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rating_final — User ratings (target)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geoplaces2 — Restaurant profiles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chefmozcuisine — Restaurant cuisines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chefmozparking — Parking info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chefmozaccepts — Accepted payments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chefmozhours4 — Operating hours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402336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32588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4983480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Patron-Restaurant Distance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983480" y="2103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Geodesic (km) via Haversine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98348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Clusters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983480" y="26517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 (k=5) on lat/long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983480" y="2971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983480" y="32004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bins from birth year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983480" y="3520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Cuisine Match Score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983480" y="3749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 similarity (0-1)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98348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Hours Category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983480" y="4297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Morning/Afternoon/Evening/24H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Correlation Analysis</a:t>
            </a:r>
            <a:endParaRPr lang="en-US" sz="3600" dirty="0"/>
          </a:p>
        </p:txBody>
      </p:sp>
      <p:sp>
        <p:nvSpPr>
          <p:cNvPr id="20" name="Subtitle"/>
          <p:cNvSpPr/>
          <p:nvPr/>
        </p:nvSpPr>
        <p:spPr>
          <a:xfrm>
            <a:off x="548640" y="10058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associations flagged by ydata-profiling EDA — reviewed, directed, and encoded as 78 causal edges</a:t>
            </a:r>
            <a:endParaRPr lang="en-US" sz="1300" dirty="0"/>
          </a:p>
        </p:txBody>
      </p:sp>
      <p:sp>
        <p:nvSpPr>
          <p:cNvPr id="3" name="LeftCard"/>
          <p:cNvSpPr/>
          <p:nvPr/>
        </p:nvSpPr>
        <p:spPr>
          <a:xfrm>
            <a:off x="548640" y="1188720"/>
            <a:ext cx="384048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LeftSectionTitle"/>
          <p:cNvSpPr/>
          <p:nvPr/>
        </p:nvSpPr>
        <p:spPr>
          <a:xfrm>
            <a:off x="77724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→ Correlation → Causal Edge</a:t>
            </a:r>
            <a:endParaRPr lang="en-US" sz="1600" dirty="0"/>
          </a:p>
        </p:txBody>
      </p:sp>
      <p:sp>
        <p:nvSpPr>
          <p:cNvPr id="5" name="Step1Header"/>
          <p:cNvSpPr/>
          <p:nvPr/>
        </p:nvSpPr>
        <p:spPr>
          <a:xfrm>
            <a:off x="777240" y="1783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Automated EDA Profiling</a:t>
            </a:r>
            <a:endParaRPr lang="en-US" sz="1300" dirty="0"/>
          </a:p>
        </p:txBody>
      </p:sp>
      <p:sp>
        <p:nvSpPr>
          <p:cNvPr id="6" name="Step1Body"/>
          <p:cNvSpPr/>
          <p:nvPr/>
        </p:nvSpPr>
        <p:spPr>
          <a:xfrm>
            <a:off x="777240" y="2011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ydata-profiling scanned 50+ merged features across patron and restaurant dataset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extracted via BeautifulSoup HTML parsing</a:t>
            </a:r>
            <a:endParaRPr lang="en-US" sz="1100" dirty="0"/>
          </a:p>
        </p:txBody>
      </p:sp>
      <p:sp>
        <p:nvSpPr>
          <p:cNvPr id="7" name="Step2Header"/>
          <p:cNvSpPr/>
          <p:nvPr/>
        </p:nvSpPr>
        <p:spPr>
          <a:xfrm>
            <a:off x="777240" y="2560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Correlation Review &amp; Direction</a:t>
            </a:r>
            <a:endParaRPr lang="en-US" sz="1300" dirty="0"/>
          </a:p>
        </p:txBody>
      </p:sp>
      <p:sp>
        <p:nvSpPr>
          <p:cNvPr id="8" name="Step2Body"/>
          <p:cNvSpPr/>
          <p:nvPr/>
        </p:nvSpPr>
        <p:spPr>
          <a:xfrm>
            <a:off x="777240" y="2788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flagged pair reviewed for domain validity and causal plausibility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Direction: demographics → preferences → rating</a:t>
            </a:r>
            <a:endParaRPr lang="en-US" sz="1100" dirty="0"/>
          </a:p>
        </p:txBody>
      </p:sp>
      <p:sp>
        <p:nvSpPr>
          <p:cNvPr id="9" name="Step3Header"/>
          <p:cNvSpPr/>
          <p:nvPr/>
        </p:nvSpPr>
        <p:spPr>
          <a:xfrm>
            <a:off x="777240" y="3337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— Edge Formalization</a:t>
            </a:r>
            <a:endParaRPr lang="en-US" sz="1300" dirty="0"/>
          </a:p>
        </p:txBody>
      </p:sp>
      <p:sp>
        <p:nvSpPr>
          <p:cNvPr id="10" name="Step3Body"/>
          <p:cNvSpPr/>
          <p:nvPr/>
        </p:nvSpPr>
        <p:spPr>
          <a:xfrm>
            <a:off x="77724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pairs encoded as (cause, effect) tuples in correlation_edges list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edges passed to networkx DiGraph → causal graph construction</a:t>
            </a:r>
            <a:endParaRPr lang="en-US" sz="1100" dirty="0"/>
          </a:p>
        </p:txBody>
      </p:sp>
      <p:sp>
        <p:nvSpPr>
          <p:cNvPr id="11" name="RightCard"/>
          <p:cNvSpPr/>
          <p:nvPr/>
        </p:nvSpPr>
        <p:spPr>
          <a:xfrm>
            <a:off x="4754880" y="1188720"/>
            <a:ext cx="402336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RightSectionTitle"/>
          <p:cNvSpPr/>
          <p:nvPr/>
        </p:nvSpPr>
        <p:spPr>
          <a:xfrm>
            <a:off x="498348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Outputs</a:t>
            </a:r>
            <a:endParaRPr lang="en-US" sz="1600" dirty="0"/>
          </a:p>
        </p:txBody>
      </p:sp>
      <p:sp>
        <p:nvSpPr>
          <p:cNvPr id="13" name="Stat1Num"/>
          <p:cNvSpPr/>
          <p:nvPr/>
        </p:nvSpPr>
        <p:spPr>
          <a:xfrm>
            <a:off x="4983480" y="1668780"/>
            <a:ext cx="16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</a:t>
            </a:r>
            <a:endParaRPr lang="en-US" sz="4800" dirty="0"/>
          </a:p>
        </p:txBody>
      </p:sp>
      <p:sp>
        <p:nvSpPr>
          <p:cNvPr id="14" name="Stat1Label"/>
          <p:cNvSpPr/>
          <p:nvPr/>
        </p:nvSpPr>
        <p:spPr>
          <a:xfrm>
            <a:off x="4983480" y="2194560"/>
            <a:ext cx="16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Edges</a:t>
            </a:r>
            <a:endParaRPr lang="en-US" sz="1100" dirty="0"/>
          </a:p>
        </p:txBody>
      </p:sp>
      <p:sp>
        <p:nvSpPr>
          <p:cNvPr id="15" name="Stat2Num"/>
          <p:cNvSpPr/>
          <p:nvPr/>
        </p:nvSpPr>
        <p:spPr>
          <a:xfrm>
            <a:off x="6766560" y="1577340"/>
            <a:ext cx="16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</a:t>
            </a:r>
            <a:endParaRPr lang="en-US" sz="4800" dirty="0"/>
          </a:p>
        </p:txBody>
      </p:sp>
      <p:sp>
        <p:nvSpPr>
          <p:cNvPr id="16" name="Stat2Label"/>
          <p:cNvSpPr/>
          <p:nvPr/>
        </p:nvSpPr>
        <p:spPr>
          <a:xfrm>
            <a:off x="6766560" y="2194560"/>
            <a:ext cx="16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(Variables)</a:t>
            </a:r>
            <a:endParaRPr lang="en-US" sz="1100" dirty="0"/>
          </a:p>
        </p:txBody>
      </p:sp>
      <p:sp>
        <p:nvSpPr>
          <p:cNvPr id="17" name="Stat3Num"/>
          <p:cNvSpPr/>
          <p:nvPr/>
        </p:nvSpPr>
        <p:spPr>
          <a:xfrm>
            <a:off x="4983480" y="2423160"/>
            <a:ext cx="16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800" dirty="0"/>
          </a:p>
        </p:txBody>
      </p:sp>
      <p:sp>
        <p:nvSpPr>
          <p:cNvPr id="18" name="Stat3Label"/>
          <p:cNvSpPr/>
          <p:nvPr/>
        </p:nvSpPr>
        <p:spPr>
          <a:xfrm>
            <a:off x="4983480" y="2926080"/>
            <a:ext cx="16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Treatments</a:t>
            </a:r>
            <a:endParaRPr lang="en-US" sz="1100" dirty="0"/>
          </a:p>
        </p:txBody>
      </p:sp>
      <p:sp>
        <p:nvSpPr>
          <p:cNvPr id="19" name="Stat4Num"/>
          <p:cNvSpPr/>
          <p:nvPr/>
        </p:nvSpPr>
        <p:spPr>
          <a:xfrm>
            <a:off x="6766560" y="2400300"/>
            <a:ext cx="16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</a:t>
            </a:r>
            <a:endParaRPr lang="en-US" sz="4800" dirty="0"/>
          </a:p>
        </p:txBody>
      </p:sp>
      <p:sp>
        <p:nvSpPr>
          <p:cNvPr id="21" name="Stat4Label"/>
          <p:cNvSpPr/>
          <p:nvPr/>
        </p:nvSpPr>
        <p:spPr>
          <a:xfrm>
            <a:off x="6766560" y="2926080"/>
            <a:ext cx="16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Detected</a:t>
            </a:r>
            <a:endParaRPr lang="en-US" sz="1100" dirty="0"/>
          </a:p>
        </p:txBody>
      </p:sp>
      <p:sp>
        <p:nvSpPr>
          <p:cNvPr id="22" name="HubHeader"/>
          <p:cNvSpPr/>
          <p:nvPr/>
        </p:nvSpPr>
        <p:spPr>
          <a:xfrm>
            <a:off x="4983480" y="3337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Hub Variables</a:t>
            </a:r>
            <a:endParaRPr lang="en-US" sz="1300" dirty="0"/>
          </a:p>
        </p:txBody>
      </p:sp>
      <p:sp>
        <p:nvSpPr>
          <p:cNvPr id="23" name="HubBody"/>
          <p:cNvSpPr/>
          <p:nvPr/>
        </p:nvSpPr>
        <p:spPr>
          <a:xfrm>
            <a:off x="4983480" y="35661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 incoming edges (most influenced)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 outgoing edges (most influential)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restaurant_specialty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14 total connections (hub node)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usal Graph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Causal Graph (DAG)</a:t>
            </a:r>
            <a:endParaRPr lang="en-US" sz="3600" dirty="0"/>
          </a:p>
        </p:txBody>
      </p:sp>
      <p:pic>
        <p:nvPicPr>
          <p:cNvPr id="3" name="CausalGrap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50" y="685800"/>
            <a:ext cx="6230700" cy="4300200"/>
          </a:xfrm>
          <a:prstGeom prst="rect">
            <a:avLst/>
          </a:prstGeom>
        </p:spPr>
      </p:pic>
      <p:sp>
        <p:nvSpPr>
          <p:cNvPr id="4" name="Caption"/>
          <p:cNvSpPr/>
          <p:nvPr/>
        </p:nvSpPr>
        <p:spPr>
          <a:xfrm>
            <a:off x="548640" y="4986000"/>
            <a:ext cx="8046720" cy="1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nodes  ·  78 directed edges  ·  7 direct treatment variables  ·  53 cycles detected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3: Treatment Attribution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82.84%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38328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42.58%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21792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Driver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food_rating Dominates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42.58% relative importance | Direct effect: +0.3632 | Shapley: 33.66% | Largest single driver of overall rating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service_rating Nearly Equal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41.72% relative importance | Direct effect: +0.3609 | Shapley: 33.34% | Food and service together explain 84% of treatment attribution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hijos — Negative Effect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9.00% relative importance | Direct effect: −0.0950 (controlling for mediators) | Shapley: 16.22% | Total causal effect is POSITIVE (+0.720 IPW ATE) — mediators reverse sign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 Minimal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3.16% | interest 2.45% | color 1.05% | personality 0.04% — demographic factors have negligible causal impact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11F1AD-114A-E524-DF0F-4D192DD3B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76" y="482599"/>
            <a:ext cx="7173047" cy="4178300"/>
          </a:xfrm>
          <a:prstGeom prst="rect">
            <a:avLst/>
          </a:prstGeom>
        </p:spPr>
      </p:pic>
      <p:sp>
        <p:nvSpPr>
          <p:cNvPr id="10" name="TitleBar"/>
          <p:cNvSpPr/>
          <p:nvPr/>
        </p:nvSpPr>
        <p:spPr>
          <a:xfrm>
            <a:off x="548640" y="60000"/>
            <a:ext cx="8229600" cy="390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44"/>
                </a:solidFill>
                <a:latin typeface="Georgia" pitchFamily="34" charset="0"/>
              </a:rPr>
              <a:t>Phase 3: Treatment Attribution — Visualisations</a:t>
            </a:r>
          </a:p>
        </p:txBody>
      </p:sp>
      <p:sp>
        <p:nvSpPr>
          <p:cNvPr id="11" name="NotesBar"/>
          <p:cNvSpPr/>
          <p:nvPr/>
        </p:nvSpPr>
        <p:spPr>
          <a:xfrm>
            <a:off x="548640" y="4720000"/>
            <a:ext cx="8229600" cy="37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Note: 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Shapley value decomposition, OLS relative importance, and DoWhy causal estimates across 7 treatment variables. Food rating (42.6%) and service rating (41.7%) dominate attribution (R² = 82.8%).</a:t>
            </a:r>
          </a:p>
        </p:txBody>
      </p:sp>
    </p:spTree>
    <p:extLst>
      <p:ext uri="{BB962C8B-B14F-4D97-AF65-F5344CB8AC3E}">
        <p14:creationId xmlns:p14="http://schemas.microsoft.com/office/powerpoint/2010/main" val="10152623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4: Mediation Analysis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100.2%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62.3%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38328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0.51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21792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— Fully Mediated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100.2% of effect flows through mediators | Food: 52.9% | Service: 47.2% | Direct effect: +0.0015 (negligible) | Activity affects ratings almost entirely via food and service quality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 — Food-Dominant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 total mediated | Food pathway: 75.2% | Service pathway: 24.8% | Direct effect: +0.026 | Personality type shapes food preferences, driving rating differences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age_group — Service-Dominant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62.3% total mediated | Service pathway: 61.8% | Food pathway: 38.2% | Direct effect: −0.022 | Older/younger groups differ mainly in service expectations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User_cuisine — Mostly Direct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40.9% mediated | Indirect via food: 28.1% | Via service: 12.9% | Direct effect: −0.0014 | Cuisine preference has a largely direct impact on rating — not via food/service quality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D9FC6AC-4A12-4825-8ABE-0732B8EF4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67C510-B3C2-7960-4BEC-F16936853B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952" r="-2" b="15209"/>
          <a:stretch>
            <a:fillRect/>
          </a:stretch>
        </p:blipFill>
        <p:spPr>
          <a:xfrm>
            <a:off x="20" y="10"/>
            <a:ext cx="8896993" cy="51434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0" name="TitleBar"/>
          <p:cNvSpPr/>
          <p:nvPr/>
        </p:nvSpPr>
        <p:spPr>
          <a:xfrm>
            <a:off x="0" y="0"/>
            <a:ext cx="9144000" cy="440000"/>
          </a:xfrm>
          <a:prstGeom prst="rect">
            <a:avLst/>
          </a:prstGeom>
          <a:solidFill>
            <a:srgbClr val="0F2A44">
              <a:alpha val="90000"/>
            </a:srgbClr>
          </a:solidFill>
          <a:ln>
            <a:noFill/>
          </a:ln>
        </p:spPr>
        <p:txBody>
          <a:bodyPr wrap="square" lIns="182880" tIns="45720" rIns="182880" bIns="4572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</a:rPr>
              <a:t>Phase 4: Mediation Analysis — Output Charts</a:t>
            </a:r>
          </a:p>
        </p:txBody>
      </p:sp>
      <p:sp>
        <p:nvSpPr>
          <p:cNvPr id="11" name="NotesBar"/>
          <p:cNvSpPr/>
          <p:nvPr/>
        </p:nvSpPr>
        <p:spPr>
          <a:xfrm>
            <a:off x="0" y="4720000"/>
            <a:ext cx="9144000" cy="423500"/>
          </a:xfrm>
          <a:prstGeom prst="rect">
            <a:avLst/>
          </a:prstGeom>
          <a:solidFill>
            <a:srgbClr val="0D9488">
              <a:alpha val="92000"/>
            </a:srgbClr>
          </a:solidFill>
          <a:ln>
            <a:noFill/>
          </a:ln>
        </p:spPr>
        <p:txBody>
          <a:bodyPr wrap="square" lIns="182880" tIns="45720" rIns="182880" bIns="4572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Note: 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Effect decomposition via food and service quality mediators. Activity is fully mediated (100.2%); personality is food-dominant (75.2%); age group is service-dominant (61.8%); cuisine preference acts mostly directly (59.1%).</a:t>
            </a:r>
          </a:p>
        </p:txBody>
      </p:sp>
    </p:spTree>
    <p:extLst>
      <p:ext uri="{BB962C8B-B14F-4D97-AF65-F5344CB8AC3E}">
        <p14:creationId xmlns:p14="http://schemas.microsoft.com/office/powerpoint/2010/main" val="1890385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4: Hijos — HTE Analysis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+0.720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IPW ATE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38328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1.047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21792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 Range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Effect of Having Children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IPW ATE: +0.720 (95% CI: [+0.627, +0.814]) | Adjusted ATE: +0.206 controlling for 8 confounders | Unadjusted: +0.723 (n=162 treated, 31,397 control) | Families rate restaurants significantly HIGHER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Decomposition (17 Paths)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Food: +0.506 (19.8%) | Via Service: +0.504 (19.8%) | Via Personality: +0.484 (19.0%) | Via Height: +0.473 (18.6%) | Via Color: +0.451 (17.7%) | Via Interest: +0.130 (5.1%)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HTE by Business Hours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Morning: ATE = +1.476 ★ strongest | Night: ATE = +0.803 | Evening: ATE = +0.803 | Afternoon: ATE = +0.758 | Full Day: ATE = +0.430 ★ weakest | Range: 1.047 rating points across segments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Recommendation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family-friendly features for morning &amp; night windows. Priority: food quality (19.8%), service quality (19.8%), environment. Morning-opening restaurants gain most.</a:t>
            </a:r>
            <a:endParaRPr lang="en-US" sz="1100" dirty="0"/>
          </a:p>
        </p:txBody>
      </p:sp>
      <p:sp>
        <p:nvSpPr>
          <p:cNvPr id="28" name="Subtitle"/>
          <p:cNvSpPr/>
          <p:nvPr/>
        </p:nvSpPr>
        <p:spPr>
          <a:xfrm>
            <a:off x="548640" y="100584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Question: Why do families with children rate restaurants differently — and through which pathways?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Analytical Methodology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Graph-Informed Analysis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enumeration (treatment → outcome)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 identification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 detection (backdoor)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Dominance analysis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importance weighting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Attribution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correlation baseline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effects (OLS, standardized)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R² (drop-one)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value decomposition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DoWhy backdoor estimation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 Analysis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effect (c’): Treatment → Rating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via food (a₁×b₁)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via service (a₂×b₂)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mediated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comparison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4632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Treatment Effects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causal pathways for hijos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IPW with stabilized weights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confidence intervals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Subgroup-specific ATE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score overlap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Inference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DoWhy, DAGs, Backdoor Criterion, Propensity Scores, Mediation, IPW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&amp; Data Science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numpy, scikit-learn, scipy, statsmodels, networkx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matplotlib, seaborn, networkx graph viz, path diagrams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37744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merging (9 tables), feature engineering, geodesic distance, KMeans clustering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Methods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114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OLS, Logistic Regression, Bootstrap CI, Shapley Values, F-tests, ATE estimation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365760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SQL-Adjacent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0" y="4114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LEFT JOINs across relational tables (users, restaurants, ratings, cuisines, payments)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1371600"/>
            <a:ext cx="4572000" cy="457200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2286000"/>
            <a:ext cx="4572000" cy="4572000"/>
          </a:xfrm>
          <a:prstGeom prst="ellipse">
            <a:avLst/>
          </a:prstGeom>
          <a:solidFill>
            <a:srgbClr val="14B8A6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22860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Ella Ndala</a:t>
            </a:r>
            <a:endParaRPr lang="en-US" sz="2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ndallaella@gmail.com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Causal_inference-Case_study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</TotalTime>
  <Words>1459</Words>
  <Application>Microsoft Macintosh PowerPoint</Application>
  <PresentationFormat>On-screen Show (16:9)</PresentationFormat>
  <Paragraphs>194</Paragraphs>
  <Slides>15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Inference Case Study: Restaurant Rating Attribution</dc:title>
  <dc:subject>PptxGenJS Presentation</dc:subject>
  <dc:creator>Ella Ndala</dc:creator>
  <cp:lastModifiedBy>Ella Ndalla</cp:lastModifiedBy>
  <cp:revision>3</cp:revision>
  <dcterms:created xsi:type="dcterms:W3CDTF">2026-02-13T22:15:37Z</dcterms:created>
  <dcterms:modified xsi:type="dcterms:W3CDTF">2026-03-12T20:42:31Z</dcterms:modified>
</cp:coreProperties>
</file>