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66" r:id="rId5"/>
    <p:sldId id="258" r:id="rId6"/>
    <p:sldId id="273" r:id="rId7"/>
    <p:sldId id="272" r:id="rId8"/>
    <p:sldId id="269" r:id="rId9"/>
    <p:sldId id="274" r:id="rId10"/>
    <p:sldId id="270" r:id="rId11"/>
    <p:sldId id="275" r:id="rId12"/>
    <p:sldId id="271" r:id="rId13"/>
    <p:sldId id="260" r:id="rId14"/>
    <p:sldId id="262" r:id="rId15"/>
    <p:sldId id="26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5725"/>
  </p:normalViewPr>
  <p:slideViewPr>
    <p:cSldViewPr snapToGrid="0" snapToObjects="1">
      <p:cViewPr varScale="1">
        <p:scale>
          <a:sx n="113" d="100"/>
          <a:sy n="113" d="100"/>
        </p:scale>
        <p:origin x="184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49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Attribution Analysis by treatment (direct Effect and Relative </a:t>
            </a:r>
            <a:r>
              <a:rPr lang="en-US" dirty="0" err="1"/>
              <a:t>Importantce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2219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Mediation analysis for </a:t>
            </a:r>
          </a:p>
        </p:txBody>
      </p:sp>
    </p:spTree>
    <p:extLst>
      <p:ext uri="{BB962C8B-B14F-4D97-AF65-F5344CB8AC3E}">
        <p14:creationId xmlns:p14="http://schemas.microsoft.com/office/powerpoint/2010/main" val="205106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Inference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5742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Rating Attribution Analysis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Ndala  |  Portfolio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factors causally drive restaurant ratings,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through which pathways do they operate?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26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Correlation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true causal drivers — not just associations — to enable actionable business decisions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8328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926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at Scale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effects through mediation pathways using Shapley values and DoWhy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1792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9260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Effects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0080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causal impacts vary across customer segments for targeted strategy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Phase 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analytical phases — from raw data to causal insights and actionable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26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Data Pipeline &amp; Feature Engineering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9 relational CSVs, merge patrons and restaurants, clean features, engineer distance and match scores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8328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926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2-3: Causal Graph &amp; Attribution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16-edge strict DAG, identify 3 direct treatments; dual attribution via Shapley values and DoWhy backdoor identification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27432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17920" y="2743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9260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Mediation Analysis &amp; HTE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0080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treatment effects through food and service mediators; analyse 8 HTE pathways for hijos via IPW and propensity scoring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1-2: Data Analysis &amp; Preprocessing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EDA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9 relational CSV files from 00_Raw_Data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one-to-many tables, then merge on userID and placeID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distributions with ydata-profiling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EDA report: Reports/EDA_Reports/eda_report.html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Preprocessing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? sentinel values with NaN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business hours: Morning/Afternoon/Evening/24H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 (most-frequent strategy)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final_data.pkl — 1,161 rows × 52 features (one per rating)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Patron-restaurant distance (Haversine km)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clusters — KMeans k=5 on lat/long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 — 18-25, 26-35, 36-50, 50+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match score — Jaccard similarity (0-1)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108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via data_pipeline.py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Phases: Ingest → Merge → Clean → Engineer → Impute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source tables joined in sequence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rerunnable, extensible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 &amp; Feature Engineering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56616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258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Relational Data Sources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 — Demographics &amp; preferences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usercuisine — Cuisine preferences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userpayment — Payment methods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rating_final — User ratings (target)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geoplaces2 — Restaurant profiles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chefmozcuisine — Restaurant cuisines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chefmozparking — Parking info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chefmozaccepts — Accepted payments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chefmozhours4 — Operating hours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4023360" cy="356616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258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98348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Patron-Restaurant Distance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83480" y="2103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Geodesic (km) via Haversine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98348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Clusters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83480" y="2651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(k=5) on lat/long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8348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83480" y="3200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bins from birth year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8348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Match Score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83480" y="3749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 (0-1)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98348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Hours Category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983480" y="4297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Morning/Afternoon/Evening/24H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Correlation Analysis</a:t>
            </a:r>
            <a:endParaRPr lang="en-US" sz="3600" dirty="0"/>
          </a:p>
        </p:txBody>
      </p:sp>
      <p:sp>
        <p:nvSpPr>
          <p:cNvPr id="20" name="Subtitle"/>
          <p:cNvSpPr/>
          <p:nvPr/>
        </p:nvSpPr>
        <p:spPr>
          <a:xfrm>
            <a:off x="548640" y="10058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 flagged by ydata-profiling on the CORRECTED 1,161-row table — bias-corrected, layered, and encoded as 16 causal edges</a:t>
            </a:r>
            <a:endParaRPr lang="en-US" sz="1300" dirty="0"/>
          </a:p>
        </p:txBody>
      </p:sp>
      <p:sp>
        <p:nvSpPr>
          <p:cNvPr id="3" name="LeftCard"/>
          <p:cNvSpPr/>
          <p:nvPr/>
        </p:nvSpPr>
        <p:spPr>
          <a:xfrm>
            <a:off x="548640" y="1188720"/>
            <a:ext cx="3840480" cy="356616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LeftSectionTitle"/>
          <p:cNvSpPr/>
          <p:nvPr/>
        </p:nvSpPr>
        <p:spPr>
          <a:xfrm>
            <a:off x="77724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Correlation → Causal Edge</a:t>
            </a:r>
            <a:endParaRPr lang="en-US" sz="1600" dirty="0"/>
          </a:p>
        </p:txBody>
      </p:sp>
      <p:sp>
        <p:nvSpPr>
          <p:cNvPr id="5" name="Step1Header"/>
          <p:cNvSpPr/>
          <p:nvPr/>
        </p:nvSpPr>
        <p:spPr>
          <a:xfrm>
            <a:off x="777240" y="1783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Automated EDA Profiling</a:t>
            </a:r>
            <a:endParaRPr lang="en-US" sz="1300" dirty="0"/>
          </a:p>
        </p:txBody>
      </p:sp>
      <p:sp>
        <p:nvSpPr>
          <p:cNvPr id="6" name="Step1Body"/>
          <p:cNvSpPr/>
          <p:nvPr/>
        </p:nvSpPr>
        <p:spPr>
          <a:xfrm>
            <a:off x="77724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ydata-profiling re-run on the corrected table; alerts now name food_rating and service_rating against rating, and nothing else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extracted via BeautifulSoup HTML parsing</a:t>
            </a:r>
            <a:endParaRPr lang="en-US" sz="1100" dirty="0"/>
          </a:p>
        </p:txBody>
      </p:sp>
      <p:sp>
        <p:nvSpPr>
          <p:cNvPr id="7" name="Step2Header"/>
          <p:cNvSpPr/>
          <p:nvPr/>
        </p:nvSpPr>
        <p:spPr>
          <a:xfrm>
            <a:off x="77724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Correlation Review &amp; Direction</a:t>
            </a:r>
            <a:endParaRPr lang="en-US" sz="1300" dirty="0"/>
          </a:p>
        </p:txBody>
      </p:sp>
      <p:sp>
        <p:nvSpPr>
          <p:cNvPr id="8" name="Step2Body"/>
          <p:cNvSpPr/>
          <p:nvPr/>
        </p:nvSpPr>
        <p:spPr>
          <a:xfrm>
            <a:off x="777240" y="2788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Bias-corrected Cramér's V (Bergsma) + cardinality guard, so collapsed set-columns cannot become spurious hubs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by fixed layering: exogenous → dyadic → mediators → rating; within-layer pairs omitted (selection, not causation)</a:t>
            </a:r>
            <a:endParaRPr lang="en-US" sz="1100" dirty="0"/>
          </a:p>
        </p:txBody>
      </p:sp>
      <p:sp>
        <p:nvSpPr>
          <p:cNvPr id="9" name="Step3Header"/>
          <p:cNvSpPr/>
          <p:nvPr/>
        </p:nvSpPr>
        <p:spPr>
          <a:xfrm>
            <a:off x="777240" y="3337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Edge Formalization</a:t>
            </a:r>
            <a:endParaRPr lang="en-US" sz="1300" dirty="0"/>
          </a:p>
        </p:txBody>
      </p:sp>
      <p:sp>
        <p:nvSpPr>
          <p:cNvPr id="10" name="Step3Body"/>
          <p:cNvSpPr/>
          <p:nvPr/>
        </p:nvSpPr>
        <p:spPr>
          <a:xfrm>
            <a:off x="77724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pairs encoded as (cause, effect) tuples in correlation_edges — see docs/edge_derivation.md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edges passed to networkx DiGraph → strict DAG, 0 cycles</a:t>
            </a:r>
            <a:endParaRPr lang="en-US" sz="1100" dirty="0"/>
          </a:p>
        </p:txBody>
      </p:sp>
      <p:sp>
        <p:nvSpPr>
          <p:cNvPr id="11" name="RightCard"/>
          <p:cNvSpPr/>
          <p:nvPr/>
        </p:nvSpPr>
        <p:spPr>
          <a:xfrm>
            <a:off x="4754880" y="1188720"/>
            <a:ext cx="4023360" cy="356616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RightSectionTitle"/>
          <p:cNvSpPr/>
          <p:nvPr/>
        </p:nvSpPr>
        <p:spPr>
          <a:xfrm>
            <a:off x="498348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Outputs</a:t>
            </a:r>
            <a:endParaRPr lang="en-US" sz="1600" dirty="0"/>
          </a:p>
        </p:txBody>
      </p:sp>
      <p:sp>
        <p:nvSpPr>
          <p:cNvPr id="13" name="Stat1Num"/>
          <p:cNvSpPr/>
          <p:nvPr/>
        </p:nvSpPr>
        <p:spPr>
          <a:xfrm>
            <a:off x="4983480" y="1668780"/>
            <a:ext cx="165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800" dirty="0"/>
          </a:p>
        </p:txBody>
      </p:sp>
      <p:sp>
        <p:nvSpPr>
          <p:cNvPr id="14" name="Stat1Label"/>
          <p:cNvSpPr/>
          <p:nvPr/>
        </p:nvSpPr>
        <p:spPr>
          <a:xfrm>
            <a:off x="4983480" y="2194560"/>
            <a:ext cx="16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Edges</a:t>
            </a:r>
            <a:endParaRPr lang="en-US" sz="1100" dirty="0"/>
          </a:p>
        </p:txBody>
      </p:sp>
      <p:sp>
        <p:nvSpPr>
          <p:cNvPr id="15" name="Stat2Num"/>
          <p:cNvSpPr/>
          <p:nvPr/>
        </p:nvSpPr>
        <p:spPr>
          <a:xfrm>
            <a:off x="6766560" y="1577340"/>
            <a:ext cx="165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800" dirty="0"/>
          </a:p>
        </p:txBody>
      </p:sp>
      <p:sp>
        <p:nvSpPr>
          <p:cNvPr id="16" name="Stat2Label"/>
          <p:cNvSpPr/>
          <p:nvPr/>
        </p:nvSpPr>
        <p:spPr>
          <a:xfrm>
            <a:off x="6766560" y="2194560"/>
            <a:ext cx="16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(Variables)</a:t>
            </a:r>
            <a:endParaRPr lang="en-US" sz="1100" dirty="0"/>
          </a:p>
        </p:txBody>
      </p:sp>
      <p:sp>
        <p:nvSpPr>
          <p:cNvPr id="17" name="Stat3Num"/>
          <p:cNvSpPr/>
          <p:nvPr/>
        </p:nvSpPr>
        <p:spPr>
          <a:xfrm>
            <a:off x="4983480" y="2423160"/>
            <a:ext cx="165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8" name="Stat3Label"/>
          <p:cNvSpPr/>
          <p:nvPr/>
        </p:nvSpPr>
        <p:spPr>
          <a:xfrm>
            <a:off x="4983480" y="2926080"/>
            <a:ext cx="16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Treatments</a:t>
            </a:r>
            <a:endParaRPr lang="en-US" sz="1100" dirty="0"/>
          </a:p>
        </p:txBody>
      </p:sp>
      <p:sp>
        <p:nvSpPr>
          <p:cNvPr id="19" name="Stat4Num"/>
          <p:cNvSpPr/>
          <p:nvPr/>
        </p:nvSpPr>
        <p:spPr>
          <a:xfrm>
            <a:off x="6766560" y="2400300"/>
            <a:ext cx="165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800" dirty="0"/>
          </a:p>
        </p:txBody>
      </p:sp>
      <p:sp>
        <p:nvSpPr>
          <p:cNvPr id="21" name="Stat4Label"/>
          <p:cNvSpPr/>
          <p:nvPr/>
        </p:nvSpPr>
        <p:spPr>
          <a:xfrm>
            <a:off x="6766560" y="2926080"/>
            <a:ext cx="16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(strict DAG)</a:t>
            </a:r>
            <a:endParaRPr lang="en-US" sz="1100" dirty="0"/>
          </a:p>
        </p:txBody>
      </p:sp>
      <p:sp>
        <p:nvSpPr>
          <p:cNvPr id="22" name="HubHeader"/>
          <p:cNvSpPr/>
          <p:nvPr/>
        </p:nvSpPr>
        <p:spPr>
          <a:xfrm>
            <a:off x="4983480" y="3337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Hub Variables</a:t>
            </a:r>
            <a:endParaRPr lang="en-US" sz="1300" dirty="0"/>
          </a:p>
        </p:txBody>
      </p:sp>
      <p:sp>
        <p:nvSpPr>
          <p:cNvPr id="23" name="HubBody"/>
          <p:cNvSpPr/>
          <p:nvPr/>
        </p:nvSpPr>
        <p:spPr>
          <a:xfrm>
            <a:off x="4983480" y="3566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food_rating, service_rating — the only edges clearing ydata's 0.50 alert level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Upayment, color, drink_level — 3 outgoing edges each (most influential)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of 75 prior edges lost their justification on the corrected data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usal Grap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Causal Graph (DAG)</a:t>
            </a:r>
            <a:endParaRPr lang="en-US" sz="3600" dirty="0"/>
          </a:p>
        </p:txBody>
      </p:sp>
      <p:pic>
        <p:nvPicPr>
          <p:cNvPr id="3" name="CausalGrap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650" y="685800"/>
            <a:ext cx="6230700" cy="4300200"/>
          </a:xfrm>
          <a:prstGeom prst="rect">
            <a:avLst/>
          </a:prstGeom>
        </p:spPr>
      </p:pic>
      <p:sp>
        <p:nvSpPr>
          <p:cNvPr id="4" name="Caption"/>
          <p:cNvSpPr/>
          <p:nvPr/>
        </p:nvSpPr>
        <p:spPr>
          <a:xfrm>
            <a:off x="548640" y="4986000"/>
            <a:ext cx="804672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nodes  ·  16 directed edges  ·  3 direct treatment variables  ·  0 cycles (strict DAG)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Treatment Attribution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60.15%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54.71%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food_rating Dominates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54.71% relative importance | Direct effect: +0.3597 | Shapley: 52.50% | Largest single driver of overall rating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0" y="28346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service_rating Nearly Equal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44.75% relative importance | Direct effect: +0.3045 | Shapley: 46.84% | Food and service together explain 99.5% of treatment attribution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— Marginal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0.53% relative importance | Direct effect: +0.0239 | Shapley: 0.67% | Survives the 0.20 screen at 0.223 but contributes almost nothing — on the edge of not earning its place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93192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393192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Eliminated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personality, hijos, interest and height no longer reach the screen on the corrected data (0.017–0.198). Their apparent effects were artifacts of the 27.2x duplication.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11F1AD-114A-E524-DF0F-4D192DD3B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76" y="482599"/>
            <a:ext cx="7173047" cy="4178300"/>
          </a:xfrm>
          <a:prstGeom prst="rect">
            <a:avLst/>
          </a:prstGeom>
        </p:spPr>
      </p:pic>
      <p:sp>
        <p:nvSpPr>
          <p:cNvPr id="10" name="TitleBar"/>
          <p:cNvSpPr/>
          <p:nvPr/>
        </p:nvSpPr>
        <p:spPr>
          <a:xfrm>
            <a:off x="548640" y="60000"/>
            <a:ext cx="8229600" cy="390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4"/>
                </a:solidFill>
                <a:latin typeface="Georgia" pitchFamily="34" charset="0"/>
              </a:rPr>
              <a:t>Phase 3: Treatment Attribution — Visualisations</a:t>
            </a:r>
          </a:p>
        </p:txBody>
      </p:sp>
      <p:sp>
        <p:nvSpPr>
          <p:cNvPr id="11" name="NotesBar"/>
          <p:cNvSpPr/>
          <p:nvPr/>
        </p:nvSpPr>
        <p:spPr>
          <a:xfrm>
            <a:off x="548640" y="4720000"/>
            <a:ext cx="8229600" cy="37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Note: Shapley value decomposition and OLS relative importance across the 3 graph-identified treatments. Food rating (54.7%) and service rating (44.8%) account for 99.5% of attribution (R² = 60.2%).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5262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4: Mediation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152.9%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133.2%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2179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drink_level — Fully Mediated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152.9% of effect flows through mediators | Food: 31.4% | Service: 68.6% | Direct effect: −0.019 | p = 0.21 — fully mediated via service (68.6%); total effect is small and non-significant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0" y="28346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— Significantly Mediated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129.7% of effect flows through mediators | Food: 59.8% | Service: 40.2% | Direct effect: +0.010 | p = 0.0004 — the only treatment with a significant total effect; food-dominant mediation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Upayment — Fully Mediated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116.9% of effect flows through mediators | Food: 81.9% | Service: 18.1% | Direct effect: +0.002 | p = 0.27 — fully mediated; payment method affects ratings almost entirely via food quality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93192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393192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67C510-B3C2-7960-4BEC-F16936853B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952" r="-2" b="15209"/>
          <a:stretch>
            <a:fillRect/>
          </a:stretch>
        </p:blipFill>
        <p:spPr>
          <a:xfrm>
            <a:off x="20" y="530577"/>
            <a:ext cx="9031091" cy="4075289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TitleBar"/>
          <p:cNvSpPr/>
          <p:nvPr/>
        </p:nvSpPr>
        <p:spPr>
          <a:xfrm>
            <a:off x="0" y="0"/>
            <a:ext cx="9144000" cy="440000"/>
          </a:xfrm>
          <a:prstGeom prst="rect">
            <a:avLst/>
          </a:prstGeom>
          <a:solidFill>
            <a:srgbClr val="0F2A44">
              <a:alpha val="90000"/>
            </a:srgbClr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</a:rPr>
              <a:t>Phase 4: Mediation Analysis — Output Charts</a:t>
            </a:r>
          </a:p>
        </p:txBody>
      </p:sp>
      <p:sp>
        <p:nvSpPr>
          <p:cNvPr id="11" name="NotesBar"/>
          <p:cNvSpPr/>
          <p:nvPr/>
        </p:nvSpPr>
        <p:spPr>
          <a:xfrm>
            <a:off x="0" y="4720000"/>
            <a:ext cx="9144000" cy="423500"/>
          </a:xfrm>
          <a:prstGeom prst="rect">
            <a:avLst/>
          </a:prstGeom>
          <a:solidFill>
            <a:srgbClr val="0D9488">
              <a:alpha val="92000"/>
            </a:srgbClr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Note: drink_level (152.9% mediated, p = 0.21), color (129.7% mediated, p = 0.0004 — only significant total effect), and Upayment (116.9% mediated, p = 0.27). All three treatments are fully mediated — the mediators absorb and reverse the small direct effects. Adding mediators lifts R² from ≈0.001 to 0.60 for each treatment.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90385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4: Hijos — HTE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+0.382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IPW 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8920" y="1188720"/>
            <a:ext cx="2560320" cy="137160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892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1.180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289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Range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Effect of Having Children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IPW ATE: +0.382 (95% CI: [+0.043, +0.667]) | Adjusted ATE: +0.146 (95% CI: [−0.049, +0.327]) — not significant | Unadjusted: +0.385 (n=19 treated, 1,142 control) | Only 19 treated observations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15"/>
          <p:cNvSpPr/>
          <p:nvPr/>
        </p:nvSpPr>
        <p:spPr>
          <a:xfrm>
            <a:off x="4846320" y="283464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Decomposition (8 Paths)</a:t>
            </a:r>
            <a:endParaRPr lang="en-US" sz="1300" dirty="0"/>
          </a:p>
        </p:txBody>
      </p:sp>
      <p:sp>
        <p:nvSpPr>
          <p:cNvPr id="19" name="Text 8"/>
          <p:cNvSpPr/>
          <p:nvPr/>
        </p:nvSpPr>
        <p:spPr>
          <a:xfrm>
            <a:off x="502920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Service: +0.211 (54.6%) | Via Food: +0.178 (46.1%) | Via Color: −0.003 (−0.7%)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HTE by Business Hours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Morning: +0.955 (n=2, p=0.10) | Evening: +0.664 (n=7, p=0.026) ★ only significant subgroup | Full Day: +0.234 (n=5, p=0.51) | Afternoon: +0.222 (n=2, p=0.68) | Night: −0.226 (n=3, p=0.60) | Range: 1.180 points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931920"/>
            <a:ext cx="4023360" cy="960120"/>
          </a:xfrm>
          <a:prstGeom prst="rect">
            <a:avLst/>
          </a:prstGeom>
          <a:solidFill>
            <a:srgbClr val="F0FDF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393192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Can and Cannot Support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treated households split across five time windows (2–7 each) — only Evening reaches significance. The direction (families rate higher, via service 54.6% and food 46.1%) is plausible but underpowered. The next step is a larger sample, not a business decision.</a:t>
            </a:r>
            <a:endParaRPr lang="en-US" sz="1100" dirty="0"/>
          </a:p>
        </p:txBody>
      </p:sp>
      <p:sp>
        <p:nvSpPr>
          <p:cNvPr id="28" name="Subtitle"/>
          <p:cNvSpPr/>
          <p:nvPr/>
        </p:nvSpPr>
        <p:spPr>
          <a:xfrm>
            <a:off x="548640" y="10058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Why do families with children rate restaurants differently?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Methodology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Graph-Informed Analysis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enumeration (treatment → outcome)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 identification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Confounder detection (backdoor)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Dominance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importance weighting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Attribution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correlation baseline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effects (OLS, standardized)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R² (drop-one)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value decomposition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DoWhy backdoor estimation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 Analysis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effect (c’): Treatment → Rating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via food (a₁×b₁)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via service (a₂×b₂)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mediated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comparison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1089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Treatment Effects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3611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causal pathways for hijos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IPW with stabilized weights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confidence intervals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Subgroup-specific 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score overlap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DoWhy, DAGs, Backdoor Criterion, Propensity Scores, Mediation, IPW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Data Science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scikit-learn, scipy, statsmodels, networkx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seaborn, networkx graph viz, path diagrams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merging (9 tables), feature engineering, geodesic distance, KMeans clustering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OLS, Logistic Regression, Bootstrap CI, Shapley Values, F-tests, ATE estimation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657600"/>
            <a:ext cx="4023360" cy="109728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SQL-Adjacent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LEFT JOINs across relational tables (users, restaurants, ratings, cuisines, payments)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14B8A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Ndalla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ndallaella@gmail.com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Causal_inference-Case_study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1459</Words>
  <Application>Microsoft Macintosh PowerPoint</Application>
  <PresentationFormat>On-screen Show (16:9)</PresentationFormat>
  <Paragraphs>194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 Inference Case Study: Restaurant Rating Attribution</dc:title>
  <dc:subject>PptxGenJS Presentation</dc:subject>
  <dc:creator>Ella Ndala</dc:creator>
  <cp:lastModifiedBy>Ella Ndalla</cp:lastModifiedBy>
  <cp:revision>5</cp:revision>
  <dcterms:created xsi:type="dcterms:W3CDTF">2026-02-13T22:15:37Z</dcterms:created>
  <dcterms:modified xsi:type="dcterms:W3CDTF">2026-05-12T23:25:51Z</dcterms:modified>
</cp:coreProperties>
</file>